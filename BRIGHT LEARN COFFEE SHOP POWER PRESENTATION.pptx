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5" r:id="rId6"/>
    <p:sldId id="266" r:id="rId7"/>
    <p:sldId id="262" r:id="rId8"/>
    <p:sldId id="264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21BBB-0827-4BCE-8522-690B2AEDFADB}" v="48" dt="2026-03-31T13:32:12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den\Downloads\BRIGHT_COFEE_ANALYSIS%5eJ%20WITH%20PIVOT%20TABLE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den\Downloads\BRIGHT_COFEE_ANALYSIS%5eJ%20WITH%20PIVOT%20TABLE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den\Downloads\BRIGHT_COFEE_ANALYSIS%5eJ%20WITH%20PIVOT%20TABLE%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den\Downloads\BRIGHT_COFEE_ANALYSIS%5eJ%20WITH%20PIVOT%20TABLE%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den\Downloads\BRIGHT_COFEE_ANALYSIS%5eJ%20WITH%20PIVOT%20TABLE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[BRIGHT_COFEE_ANALYSIS^J WITH PIVOT TABLE .xlsx]TOTAL REVENUE!PivotTable1</c:name>
    <c:fmtId val="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noFill/>
              <a:round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noFill/>
              <a:round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 w="12700" cap="flat" cmpd="sng" algn="ctr">
              <a:noFill/>
              <a:round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50"/>
      <c:rotY val="98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'TOTAL REVENUE'!$B$3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1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965-4920-8A28-9B5C866E7DF5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965-4920-8A28-9B5C866E7DF5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965-4920-8A28-9B5C866E7DF5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965-4920-8A28-9B5C866E7DF5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chemeClr val="accent2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965-4920-8A28-9B5C866E7DF5}"/>
                </c:ext>
              </c:extLst>
            </c:dLbl>
            <c:dLbl>
              <c:idx val="2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chemeClr val="accent3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E965-4920-8A28-9B5C866E7DF5}"/>
                </c:ext>
              </c:extLst>
            </c:dLbl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'TOTAL REVENUE'!$A$4:$A$7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'TOTAL REVENUE'!$B$4:$B$7</c:f>
              <c:numCache>
                <c:formatCode>General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65-4920-8A28-9B5C866E7DF5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[BRIGHT_COFEE_ANALYSIS^J WITH PIVOT TABLE .xlsx]TIME INTERVALS		!PivotTable5</c:name>
    <c:fmtId val="1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'TIME INTERVALS		'!$E$5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CD-408A-A716-8DFEFF3C222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2CD-408A-A716-8DFEFF3C222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CD-408A-A716-8DFEFF3C222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2CD-408A-A716-8DFEFF3C222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2CD-408A-A716-8DFEFF3C222B}"/>
              </c:ext>
            </c:extLst>
          </c:dPt>
          <c:cat>
            <c:strRef>
              <c:f>'TIME INTERVALS		'!$D$6:$D$11</c:f>
              <c:strCache>
                <c:ptCount val="5"/>
                <c:pt idx="0">
                  <c:v>01.Busy Hour</c:v>
                </c:pt>
                <c:pt idx="1">
                  <c:v>02.Mid morning</c:v>
                </c:pt>
                <c:pt idx="2">
                  <c:v>03.Afternoon</c:v>
                </c:pt>
                <c:pt idx="3">
                  <c:v>04. Last Rush</c:v>
                </c:pt>
                <c:pt idx="4">
                  <c:v>05.Night</c:v>
                </c:pt>
              </c:strCache>
            </c:strRef>
          </c:cat>
          <c:val>
            <c:numRef>
              <c:f>'TIME INTERVALS		'!$E$6:$E$11</c:f>
              <c:numCache>
                <c:formatCode>"R"#\ ##0.00</c:formatCode>
                <c:ptCount val="5"/>
                <c:pt idx="0">
                  <c:v>168126.61000000409</c:v>
                </c:pt>
                <c:pt idx="1">
                  <c:v>220162.06000000678</c:v>
                </c:pt>
                <c:pt idx="2">
                  <c:v>163598.08000000264</c:v>
                </c:pt>
                <c:pt idx="3">
                  <c:v>115543.25999999949</c:v>
                </c:pt>
                <c:pt idx="4">
                  <c:v>31382.320000000018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CD-408A-A716-8DFEFF3C22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[BRIGHT_COFEE_ANALYSIS^J WITH PIVOT TABLE .xlsx]TOTAL QUANTITY!PivotTable8</c:name>
    <c:fmtId val="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'TOTAL QUANTITY'!$B$16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'TOTAL QUANTITY'!$A$17:$A$20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'TOTAL QUANTITY'!$B$17:$B$20</c:f>
              <c:numCache>
                <c:formatCode>General</c:formatCode>
                <c:ptCount val="3"/>
                <c:pt idx="0">
                  <c:v>70991</c:v>
                </c:pt>
                <c:pt idx="1">
                  <c:v>71737</c:v>
                </c:pt>
                <c:pt idx="2">
                  <c:v>71742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8-438A-9E4D-EA2FEF373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95065136"/>
        <c:axId val="1095081936"/>
      </c:barChart>
      <c:catAx>
        <c:axId val="109506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5081936"/>
        <c:crosses val="autoZero"/>
        <c:auto val="1"/>
        <c:lblAlgn val="ctr"/>
        <c:lblOffset val="100"/>
        <c:noMultiLvlLbl val="0"/>
      </c:catAx>
      <c:valAx>
        <c:axId val="109508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5065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[BRIGHT_COFEE_ANALYSIS^J WITH PIVOT TABLE .xlsx]SALES REVIEW!PivotTable11</c:name>
    <c:fmtId val="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'SALES REVIEW'!$B$3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'SALES REVIEW'!$A$4:$A$13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'SALES REVIEW'!$B$4:$B$13</c:f>
              <c:numCache>
                <c:formatCode>General</c:formatCode>
                <c:ptCount val="9"/>
                <c:pt idx="0">
                  <c:v>23214</c:v>
                </c:pt>
                <c:pt idx="1">
                  <c:v>776</c:v>
                </c:pt>
                <c:pt idx="2">
                  <c:v>89250</c:v>
                </c:pt>
                <c:pt idx="3">
                  <c:v>1828</c:v>
                </c:pt>
                <c:pt idx="4">
                  <c:v>17457</c:v>
                </c:pt>
                <c:pt idx="5">
                  <c:v>10511</c:v>
                </c:pt>
                <c:pt idx="6">
                  <c:v>1210</c:v>
                </c:pt>
                <c:pt idx="7">
                  <c:v>487</c:v>
                </c:pt>
                <c:pt idx="8">
                  <c:v>69737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D7-4582-8587-AD9A7C668F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1279567"/>
        <c:axId val="1441281967"/>
      </c:barChart>
      <c:catAx>
        <c:axId val="144127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281967"/>
        <c:crosses val="autoZero"/>
        <c:auto val="1"/>
        <c:lblAlgn val="ctr"/>
        <c:lblOffset val="100"/>
        <c:noMultiLvlLbl val="0"/>
      </c:catAx>
      <c:valAx>
        <c:axId val="1441281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279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[BRIGHT_COFEE_ANALYSIS^J WITH PIVOT TABLE .xlsx]TOTAL SALES BY PRODUCT TYPE!PivotTable9</c:name>
    <c:fmtId val="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'TOTAL SALES BY PRODUCT TYPE'!$B$3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'TOTAL SALES BY PRODUCT TYPE'!$A$4:$A$34</c:f>
              <c:multiLvlStrCache>
                <c:ptCount val="27"/>
                <c:lvl>
                  <c:pt idx="0">
                    <c:v>Bakery</c:v>
                  </c:pt>
                  <c:pt idx="1">
                    <c:v>Branded</c:v>
                  </c:pt>
                  <c:pt idx="2">
                    <c:v>Coffee</c:v>
                  </c:pt>
                  <c:pt idx="3">
                    <c:v>Coffee beans</c:v>
                  </c:pt>
                  <c:pt idx="4">
                    <c:v>Drinking Chocolate</c:v>
                  </c:pt>
                  <c:pt idx="5">
                    <c:v>Flavours</c:v>
                  </c:pt>
                  <c:pt idx="6">
                    <c:v>Loose Tea</c:v>
                  </c:pt>
                  <c:pt idx="7">
                    <c:v>Packaged Chocolate</c:v>
                  </c:pt>
                  <c:pt idx="8">
                    <c:v>Tea</c:v>
                  </c:pt>
                  <c:pt idx="9">
                    <c:v>Bakery</c:v>
                  </c:pt>
                  <c:pt idx="10">
                    <c:v>Branded</c:v>
                  </c:pt>
                  <c:pt idx="11">
                    <c:v>Coffee</c:v>
                  </c:pt>
                  <c:pt idx="12">
                    <c:v>Coffee beans</c:v>
                  </c:pt>
                  <c:pt idx="13">
                    <c:v>Drinking Chocolate</c:v>
                  </c:pt>
                  <c:pt idx="14">
                    <c:v>Flavours</c:v>
                  </c:pt>
                  <c:pt idx="15">
                    <c:v>Loose Tea</c:v>
                  </c:pt>
                  <c:pt idx="16">
                    <c:v>Packaged Chocolate</c:v>
                  </c:pt>
                  <c:pt idx="17">
                    <c:v>Tea</c:v>
                  </c:pt>
                  <c:pt idx="18">
                    <c:v>Bakery</c:v>
                  </c:pt>
                  <c:pt idx="19">
                    <c:v>Branded</c:v>
                  </c:pt>
                  <c:pt idx="20">
                    <c:v>Coffee</c:v>
                  </c:pt>
                  <c:pt idx="21">
                    <c:v>Coffee beans</c:v>
                  </c:pt>
                  <c:pt idx="22">
                    <c:v>Drinking Chocolate</c:v>
                  </c:pt>
                  <c:pt idx="23">
                    <c:v>Flavours</c:v>
                  </c:pt>
                  <c:pt idx="24">
                    <c:v>Loose Tea</c:v>
                  </c:pt>
                  <c:pt idx="25">
                    <c:v>Packaged Chocolate</c:v>
                  </c:pt>
                  <c:pt idx="26">
                    <c:v>Tea</c:v>
                  </c:pt>
                </c:lvl>
                <c:lvl>
                  <c:pt idx="0">
                    <c:v>Astoria</c:v>
                  </c:pt>
                  <c:pt idx="9">
                    <c:v>Hell's Kitchen</c:v>
                  </c:pt>
                  <c:pt idx="18">
                    <c:v>Lower Manhattan</c:v>
                  </c:pt>
                </c:lvl>
              </c:multiLvlStrCache>
            </c:multiLvlStrRef>
          </c:cat>
          <c:val>
            <c:numRef>
              <c:f>'TOTAL SALES BY PRODUCT TYPE'!$B$4:$B$34</c:f>
              <c:numCache>
                <c:formatCode>"R"#\ ##0.00</c:formatCode>
                <c:ptCount val="27"/>
                <c:pt idx="0">
                  <c:v>25844.75</c:v>
                </c:pt>
                <c:pt idx="1">
                  <c:v>5457</c:v>
                </c:pt>
                <c:pt idx="2">
                  <c:v>60560.299999995805</c:v>
                </c:pt>
                <c:pt idx="3">
                  <c:v>10219.200000000001</c:v>
                </c:pt>
                <c:pt idx="4">
                  <c:v>17822.75</c:v>
                </c:pt>
                <c:pt idx="5">
                  <c:v>1191.9999999999666</c:v>
                </c:pt>
                <c:pt idx="6">
                  <c:v>3193.9999999999891</c:v>
                </c:pt>
                <c:pt idx="7">
                  <c:v>1089.7100000000009</c:v>
                </c:pt>
                <c:pt idx="8">
                  <c:v>45892.699999999502</c:v>
                </c:pt>
                <c:pt idx="9">
                  <c:v>27187.950000000012</c:v>
                </c:pt>
                <c:pt idx="10">
                  <c:v>1942</c:v>
                </c:pt>
                <c:pt idx="11">
                  <c:v>60881.349999995924</c:v>
                </c:pt>
                <c:pt idx="12">
                  <c:v>15485.100000000017</c:v>
                </c:pt>
                <c:pt idx="13">
                  <c:v>15653</c:v>
                </c:pt>
                <c:pt idx="14">
                  <c:v>1895.9999999999266</c:v>
                </c:pt>
                <c:pt idx="15">
                  <c:v>4461.3499999999694</c:v>
                </c:pt>
                <c:pt idx="16">
                  <c:v>1698.7699999999986</c:v>
                </c:pt>
                <c:pt idx="17">
                  <c:v>43000.149999999558</c:v>
                </c:pt>
                <c:pt idx="18">
                  <c:v>27931.44000000017</c:v>
                </c:pt>
                <c:pt idx="19">
                  <c:v>5838</c:v>
                </c:pt>
                <c:pt idx="20">
                  <c:v>55187.649999996749</c:v>
                </c:pt>
                <c:pt idx="21">
                  <c:v>11140.950000000004</c:v>
                </c:pt>
                <c:pt idx="22">
                  <c:v>14103</c:v>
                </c:pt>
                <c:pt idx="23">
                  <c:v>2343.999999999985</c:v>
                </c:pt>
                <c:pt idx="24">
                  <c:v>3558.2499999999859</c:v>
                </c:pt>
                <c:pt idx="25">
                  <c:v>1619.1599999999978</c:v>
                </c:pt>
                <c:pt idx="26">
                  <c:v>39142.499999999396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F4-4F03-8C58-04E1BF224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1269967"/>
        <c:axId val="1441270447"/>
      </c:lineChart>
      <c:catAx>
        <c:axId val="1441269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270447"/>
        <c:crosses val="autoZero"/>
        <c:auto val="1"/>
        <c:lblAlgn val="ctr"/>
        <c:lblOffset val="100"/>
        <c:noMultiLvlLbl val="0"/>
      </c:catAx>
      <c:valAx>
        <c:axId val="144127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1269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ZA" dirty="0"/>
            <a:t>data Source: Transactional dataset </a:t>
          </a:r>
          <a:endParaRPr lang="en-US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fr-FR" dirty="0"/>
            <a:t>Data </a:t>
          </a:r>
          <a:r>
            <a:rPr lang="fr-FR" dirty="0" err="1"/>
            <a:t>analysis</a:t>
          </a:r>
          <a:r>
            <a:rPr lang="fr-FR" dirty="0"/>
            <a:t>-:</a:t>
          </a:r>
        </a:p>
        <a:p>
          <a:pPr>
            <a:defRPr cap="all"/>
          </a:pPr>
          <a:r>
            <a:rPr lang="fr-FR" dirty="0"/>
            <a:t>SQL </a:t>
          </a:r>
          <a:r>
            <a:rPr lang="fr-FR" dirty="0" err="1"/>
            <a:t>queries</a:t>
          </a:r>
          <a:r>
            <a:rPr lang="fr-FR" dirty="0"/>
            <a:t>, pivot tables, </a:t>
          </a:r>
          <a:r>
            <a:rPr lang="fr-FR" dirty="0" err="1"/>
            <a:t>dashboards</a:t>
          </a: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r>
            <a:rPr lang="en-US" dirty="0"/>
            <a:t>VISUALISATIONS:</a:t>
          </a:r>
        </a:p>
        <a:p>
          <a:r>
            <a:rPr lang="en-US" dirty="0"/>
            <a:t>CHATS ON EXCEL, TREND ANALYSIS- GRAPHS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LinFactNeighborX="5775" custLinFactNeighborY="-2122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 custLinFactNeighborX="9" custLinFactNeighborY="3395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189996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500" kern="1200" dirty="0"/>
            <a:t>data Source: Transactional dataset </a:t>
          </a:r>
          <a:endParaRPr lang="en-US" sz="2500" kern="1200" dirty="0"/>
        </a:p>
      </dsp:txBody>
      <dsp:txXfrm>
        <a:off x="189996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500" kern="1200" dirty="0"/>
            <a:t>Data </a:t>
          </a:r>
          <a:r>
            <a:rPr lang="fr-FR" sz="2500" kern="1200" dirty="0" err="1"/>
            <a:t>analysis</a:t>
          </a:r>
          <a:r>
            <a:rPr lang="fr-FR" sz="2500" kern="1200" dirty="0"/>
            <a:t>-: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500" kern="1200" dirty="0"/>
            <a:t>SQL </a:t>
          </a:r>
          <a:r>
            <a:rPr lang="fr-FR" sz="2500" kern="1200" dirty="0" err="1"/>
            <a:t>queries</a:t>
          </a:r>
          <a:r>
            <a:rPr lang="fr-FR" sz="2500" kern="1200" dirty="0"/>
            <a:t>, pivot tables, </a:t>
          </a:r>
          <a:r>
            <a:rPr lang="fr-FR" sz="2500" kern="1200" dirty="0" err="1"/>
            <a:t>dashboards</a:t>
          </a:r>
          <a:endParaRPr lang="en-US" sz="2500" kern="1200" dirty="0"/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7193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VISUALISATIONS: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CHATS ON EXCEL, TREND ANALYSIS- GRAPHS</a:t>
          </a:r>
        </a:p>
      </dsp:txBody>
      <dsp:txXfrm>
        <a:off x="7077193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Bright Coffee Shop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Sales Insights for Growth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Methodology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335793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6C0F-0AC7-326E-EA11-CAA4CAB1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Revenue Generators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2D29EB0-686F-9095-3E57-589C66319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531579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570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5E1C-25ED-8588-A989-D16679F1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When Customers Buy Most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69E7A5-678D-C12C-7B0C-996FE4B99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751818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961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11A9-EE3F-E474-00A6-31DC3671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BEST SELLING SHOPS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1AD293-9F92-0F3A-AA90-9F0BBA69B0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9041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E11D-AEDA-57BE-EE8E-B2F38859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BEST SELLER PRODUCTS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5CAC30-3636-B81A-7CCC-09A9105ACC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4321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007F-6D91-5EBB-A791-E3FD66F9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Strategic 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065EEB-464D-7C37-F94D-B0566C9F8F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468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115B-6322-97FA-B05B-72EDF2B3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STRATIGIC RECOMMENDATION CONTINUES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93813-6597-6521-AAFD-7967F94D7E7D}"/>
              </a:ext>
            </a:extLst>
          </p:cNvPr>
          <p:cNvSpPr txBox="1"/>
          <p:nvPr/>
        </p:nvSpPr>
        <p:spPr>
          <a:xfrm>
            <a:off x="2049517" y="2774731"/>
            <a:ext cx="75674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“Coffee + Bakery” combos at a slight discount. Since both categories are strong, bundling them increases basket size and encourages upselling.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time-bucket analysis (30–60 min intervals) to identify quieter periods. Offer 10–15% off drinks during those slots to drive foot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Astoria and Hell’s Kitchen may have different peaks compared to Lower Manhattan. Tailor promotions per store location based on local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Reward repeat purchases in categories that need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1340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D54D-E87F-9E5F-8ADB-485308A7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Thriving Growth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03B9-38D9-F055-92DE-3E0BA0B68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inventory of best-selling items to avoid stock-outs.</a:t>
            </a:r>
          </a:p>
          <a:p>
            <a:r>
              <a:rPr lang="en-US" dirty="0"/>
              <a:t>Introduce seasonal flavors (pumpkin spice, peppermint mocha) to create urgency.</a:t>
            </a:r>
          </a:p>
          <a:p>
            <a:r>
              <a:rPr lang="en-US" dirty="0"/>
              <a:t>Implement daily dashboards to monitor performance by product, time, and location- this allow quick adjustments within the business </a:t>
            </a:r>
          </a:p>
          <a:p>
            <a:r>
              <a:rPr lang="it-IT" dirty="0"/>
              <a:t>Promote specials via social media and mobile apps.</a:t>
            </a:r>
          </a:p>
          <a:p>
            <a:r>
              <a:rPr lang="en-US" dirty="0"/>
              <a:t>Offer mobile ordering discounts to increase convenience and volume.</a:t>
            </a:r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5688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7BDF-5BDB-13B0-6420-B7C97A6D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2824-3D75-916C-6338-867E17249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PLATFORM FOR Q&amp;A</a:t>
            </a:r>
          </a:p>
          <a:p>
            <a:pPr marL="36900" indent="0">
              <a:buNone/>
            </a:pP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84234-1A9A-A939-87C6-85B57A235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790497"/>
            <a:ext cx="5376041" cy="300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05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35</TotalTime>
  <Words>215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Goudy Old Style</vt:lpstr>
      <vt:lpstr>Wingdings 2</vt:lpstr>
      <vt:lpstr>SlateVTI</vt:lpstr>
      <vt:lpstr>Bright Coffee Shop </vt:lpstr>
      <vt:lpstr>Methodology</vt:lpstr>
      <vt:lpstr>Revenue Generators</vt:lpstr>
      <vt:lpstr>When Customers Buy Most</vt:lpstr>
      <vt:lpstr>BEST SELLING SHOPS</vt:lpstr>
      <vt:lpstr>BEST SELLER PRODUCTS</vt:lpstr>
      <vt:lpstr>Strategic Recommendations</vt:lpstr>
      <vt:lpstr>STRATIGIC RECOMMENDATION CONTINUES</vt:lpstr>
      <vt:lpstr>Thriving Growth Together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Jade Ngwane</dc:creator>
  <cp:lastModifiedBy>Jade Ngwane</cp:lastModifiedBy>
  <cp:revision>2</cp:revision>
  <dcterms:created xsi:type="dcterms:W3CDTF">2026-03-30T12:43:21Z</dcterms:created>
  <dcterms:modified xsi:type="dcterms:W3CDTF">2026-03-31T13:35:03Z</dcterms:modified>
</cp:coreProperties>
</file>